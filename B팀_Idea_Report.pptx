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1" r:id="rId6"/>
    <p:sldId id="267" r:id="rId7"/>
    <p:sldId id="265" r:id="rId8"/>
    <p:sldId id="268" r:id="rId9"/>
    <p:sldId id="264" r:id="rId10"/>
    <p:sldId id="263" r:id="rId11"/>
  </p:sldIdLst>
  <p:sldSz cx="12192000" cy="6858000"/>
  <p:notesSz cx="6858000" cy="9144000"/>
  <p:embeddedFontLst>
    <p:embeddedFont>
      <p:font typeface="Pretendard" panose="02000503000000020004" pitchFamily="50" charset="-127"/>
      <p:regular r:id="rId12"/>
      <p:bold r:id="rId13"/>
    </p:embeddedFont>
    <p:embeddedFont>
      <p:font typeface="Pretendard ExtraBold" panose="02000903000000020004" pitchFamily="50" charset="-127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D9545F-A6DC-FB12-AAB0-3304D0E52484}" name="동락 최" initials="동최" userId="7ef0e373fa6ba285" providerId="Windows Live"/>
  <p188:author id="{1CC8866A-2E02-2C99-5A2C-68CDEC5CAA9C}" name="제우 이" initials="제이" userId="03d4abd5c9560cc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 varScale="1">
        <p:scale>
          <a:sx n="149" d="100"/>
          <a:sy n="149" d="100"/>
        </p:scale>
        <p:origin x="616" y="9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AC6E8-FAD7-0E12-0780-4370CF15D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506E3E-68D5-31C6-ECC8-6D9893424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0626A-286C-1FD4-054C-7F56E503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779F42-7D36-355E-E79D-CCF8B5C2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7A7D0B-7907-B7C3-D422-617C1E6A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6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7136E-71C2-EE22-DD90-06E0787C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B532E-4456-756E-BA1B-E70ADC505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D5D82C-A525-AD15-92BB-3A705B59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106AEB-B93D-0EB7-E988-1775BFDF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D56448-64EF-C4DB-F901-3048BD83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63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17D36-3C31-8FD6-B000-7871DDE1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95C33-CD2D-54C9-ADCC-0E0175B35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DCA676-A168-8E04-0713-D1B5E113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3CD65-7B81-5031-637A-0D2EFA34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2C426-5FCE-6960-531F-1D18BE18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16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B15B1-2DFB-D883-0244-4131983D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91A543-D46C-4083-FBB8-D93DF4347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A43E1D-ADBA-DCD2-499D-CC57FC842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4B8CE2-EDD9-D476-8CA6-9FCD079F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546609-0B74-F001-A111-261A5ACB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D0D700-A4C3-27C8-1429-0060E9DD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332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B4455-CB67-3D96-02B3-38C49A74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3E3E8C-A647-9745-FFA5-2E432165B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927B7D-F034-CF0B-2D12-3BF4A91C5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E64DE2-DD5D-8A3E-1669-0F98810F0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6AB0F-F5AF-3BE6-AE7A-DF033C877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AEA743-188B-97BE-7003-03E32B72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4C2854-D5D1-8488-D98E-BF1EA559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37BA9F-0D1E-5B02-7C78-66821527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52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26AAB-380E-2896-D805-59B7D068D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86BD92-C142-64BA-ECC2-0550B97E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5ECB5C-3C5F-8C8B-6A01-003F6C69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3B5B6A-2A24-E014-8EA3-769C83E2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601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E64951-A735-13B6-3080-FC97D12E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C5E808-E547-6A01-D5A6-DE7AEAA05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92D158-E067-85C8-AC5D-82B1DA38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24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3DF4A-AA51-88B3-E6D2-698AB9BA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1B456-9E54-492C-B47F-08DA17CC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88BA66-DD3E-3BBE-54E7-2A1B23FC8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7C6631-A5AF-3EF6-3422-DE316D96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E7F552-537C-E832-D1C0-572AF678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8D2507-78F9-C346-E85B-318D947A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3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DF52E-B0B2-45DC-70C0-15DF3DE6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C49D01-8DBC-C14F-A857-8769D6C04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591BAC-A5CB-93F7-20E3-6FEFD2E02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59A41E-3D7D-EADD-9312-75A5E36D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0657CA-922C-0957-5A1C-FC65A980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CF9C05-2D1A-828E-1806-610E62B7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22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9F92E-56FD-DA89-B12C-DC55AA685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B5D525-98EC-1081-174E-8A01222F2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733400-51E3-E061-D888-E3ABB99F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C1167-1BAC-11CC-4C37-BDB8F2CE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1F6B-C45A-3717-9BA6-97D32A435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3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F20B69-FBE6-4D6B-1CA6-A5290A257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2AFB72-7FAB-779C-C326-0C9153762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44665C-E6AB-F684-B7F2-E680DD86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3ACB99-FBE5-D8B9-4FE7-A47E1936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BEF96-73C8-1473-E1B2-0E7B922B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4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504CCE-D9B5-5FB1-08C7-D7E77512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A0B354-9646-71D8-437C-90AD3839B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1C1E7-79A8-CCB4-8A05-CC236BBA5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FD0BE-29A2-4525-8423-781066E80673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A2AB0-CF75-2BA3-93D1-E321DEA1D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D57B2D-A6CD-A575-F12E-2802B2133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CCC9-534A-46E8-8BED-994637B90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99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594D6-7B36-E998-73E2-8AA98BEE1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0397"/>
            <a:ext cx="9144000" cy="1527414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Idea Report</a:t>
            </a:r>
            <a:b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en-US" sz="4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B8E2E-4A56-460A-A6BF-F78A1C62A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3797" y="4984694"/>
            <a:ext cx="2195639" cy="1294726"/>
          </a:xfrm>
        </p:spPr>
        <p:txBody>
          <a:bodyPr>
            <a:normAutofit/>
          </a:bodyPr>
          <a:lstStyle/>
          <a:p>
            <a:pPr algn="r"/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Team B</a:t>
            </a:r>
          </a:p>
          <a:p>
            <a:pPr algn="r"/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2022147011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남궁현종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2022147032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이제우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2022147040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최동락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1B7B4D2-D6D0-62D6-BEA0-DD482819234B}"/>
              </a:ext>
            </a:extLst>
          </p:cNvPr>
          <p:cNvSpPr txBox="1">
            <a:spLocks/>
          </p:cNvSpPr>
          <p:nvPr/>
        </p:nvSpPr>
        <p:spPr>
          <a:xfrm>
            <a:off x="3590167" y="3776958"/>
            <a:ext cx="5011666" cy="501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지식추론과텍스트마이닝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(IIE4103.01-00) Term Project</a:t>
            </a:r>
            <a:endParaRPr lang="ko-KR" altLang="en-US" sz="1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9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5531E-4049-7915-A6E0-8C438D0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25787"/>
            <a:ext cx="5117538" cy="36981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왜 </a:t>
            </a:r>
            <a:r>
              <a:rPr lang="en-US" altLang="ko-KR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인가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</a:t>
            </a:r>
            <a:r>
              <a:rPr lang="en-US" altLang="ko-KR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규칙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Stage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표현 방식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B33CE3A-1D6A-1A9A-5A1C-870DFF0E66C2}"/>
              </a:ext>
            </a:extLst>
          </p:cNvPr>
          <p:cNvSpPr txBox="1">
            <a:spLocks/>
          </p:cNvSpPr>
          <p:nvPr/>
        </p:nvSpPr>
        <p:spPr>
          <a:xfrm>
            <a:off x="6236262" y="1825625"/>
            <a:ext cx="51175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9DDB44C-25F5-30A5-399E-04EC35486BD6}"/>
              </a:ext>
            </a:extLst>
          </p:cNvPr>
          <p:cNvSpPr txBox="1">
            <a:spLocks/>
          </p:cNvSpPr>
          <p:nvPr/>
        </p:nvSpPr>
        <p:spPr>
          <a:xfrm>
            <a:off x="6451600" y="1607707"/>
            <a:ext cx="5117538" cy="4200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탐색 문제로의 정의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6.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알고리즘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Breadth First Search (BFS)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7.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비교 알고리즘과 구현 구조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8.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계획 및 향후 진행 로드맵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9E46441-90B6-9EAF-67C7-6FC50E4C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927"/>
            <a:ext cx="10515600" cy="808219"/>
          </a:xfrm>
        </p:spPr>
        <p:txBody>
          <a:bodyPr/>
          <a:lstStyle/>
          <a:p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4253656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50A74B8-5AD0-129C-A6C9-029395BF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927"/>
            <a:ext cx="10515600" cy="613197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프로젝트 개요</a:t>
            </a:r>
            <a:r>
              <a:rPr lang="en-US" altLang="ko-KR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en-US" altLang="ko-KR" sz="32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GridCraze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A7AAF2-C3B0-61F8-F5A8-E97BAAD7C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72" t="6517" r="5834" b="8539"/>
          <a:stretch>
            <a:fillRect/>
          </a:stretch>
        </p:blipFill>
        <p:spPr>
          <a:xfrm>
            <a:off x="10788118" y="118041"/>
            <a:ext cx="1126730" cy="1147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316E22-CDF9-8C57-79F7-2140A7CD40E7}"/>
              </a:ext>
            </a:extLst>
          </p:cNvPr>
          <p:cNvSpPr txBox="1"/>
          <p:nvPr/>
        </p:nvSpPr>
        <p:spPr>
          <a:xfrm>
            <a:off x="347958" y="1282039"/>
            <a:ext cx="11474506" cy="485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 프로젝트의 목표는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iOS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퍼즐 게임 </a:t>
            </a:r>
            <a:r>
              <a:rPr lang="en-US" altLang="ko-KR" sz="1600" b="1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스테이지를 자동으로 분석하고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스테이지를 가장 높은 점수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가장 최소한의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횟수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클리어하기 위한 </a:t>
            </a:r>
            <a:r>
              <a:rPr lang="ko-KR" altLang="en-US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최적의 </a:t>
            </a:r>
            <a:r>
              <a:rPr lang="en-US" altLang="ko-KR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sequence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계산하는 지능형 시스템을 개발하는 것이다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ko-KR" altLang="en-US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격자판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위에서 하나의 이동 블록을 목표 지점까지 보내는 퍼즐 게임이다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플레이어는 상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좌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 중 하나의 방향을 선택하고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이동 블록은 그 방향으로 직선 </a:t>
            </a:r>
            <a:r>
              <a:rPr lang="ko-KR" altLang="en-US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슬라이드한다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이때 블록은 한 칸만 움직이는 것이 아니라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p.5(</a:t>
            </a: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규칙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후술할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블록들과의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상호작용전까지 해당 방향으로 계속 직선 이동한다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 번의 방향 선택은 항상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1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회로 계산된다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게임의 핵심 목표는 단순히 목표 지점에 도달하는 것이 아니라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가능한 한 적은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수로 목표 지점에 도달하는 것이다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</a:t>
            </a: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자연스럽게 </a:t>
            </a:r>
            <a:r>
              <a:rPr lang="ko-KR" altLang="en-US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최단 경로 탐색 문제*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또는 </a:t>
            </a:r>
            <a:r>
              <a:rPr lang="ko-KR" altLang="en-US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 행동 수 계획 문제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모델링할 수 있다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 프로젝트에서는 </a:t>
            </a: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스테이지를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state-space search problem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정의하고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비용이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이라는 점을 이용하여 </a:t>
            </a:r>
            <a:r>
              <a:rPr lang="en-US" altLang="ko-KR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Breadth-First Search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en-US" altLang="ko-KR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BFS)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주 알고리즘으로 사용한다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BFS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동일한 비용의 행동으로 구성된 문제에서 처음 발견한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 state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최적해임을 보장한다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반환하는 첫 번째 해는 최소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수를 갖는 최적 풀이가 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A8BF7B29-B782-2395-E3A9-DBDBDEBEA285}"/>
              </a:ext>
            </a:extLst>
          </p:cNvPr>
          <p:cNvSpPr txBox="1">
            <a:spLocks/>
          </p:cNvSpPr>
          <p:nvPr/>
        </p:nvSpPr>
        <p:spPr>
          <a:xfrm>
            <a:off x="838200" y="775078"/>
            <a:ext cx="10515600" cy="382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GridCraze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 최적 풀이를 자동으로 찾는 지능형 시스템 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Solver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647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A4DA-1DCF-35E8-EE1E-23AD4373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AA7E44E-0048-D794-5E13-C96E2C6E1991}"/>
              </a:ext>
            </a:extLst>
          </p:cNvPr>
          <p:cNvSpPr txBox="1">
            <a:spLocks/>
          </p:cNvSpPr>
          <p:nvPr/>
        </p:nvSpPr>
        <p:spPr>
          <a:xfrm>
            <a:off x="838200" y="276927"/>
            <a:ext cx="10515600" cy="613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왜 </a:t>
            </a:r>
            <a:r>
              <a:rPr lang="en-US" altLang="ko-KR" sz="32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GridCraze</a:t>
            </a:r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인가</a:t>
            </a:r>
            <a:r>
              <a:rPr lang="en-US" altLang="ko-KR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?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32279DB-277F-5A96-79A4-66B96A0FD9EF}"/>
              </a:ext>
            </a:extLst>
          </p:cNvPr>
          <p:cNvSpPr txBox="1">
            <a:spLocks/>
          </p:cNvSpPr>
          <p:nvPr/>
        </p:nvSpPr>
        <p:spPr>
          <a:xfrm>
            <a:off x="838200" y="775078"/>
            <a:ext cx="10515600" cy="382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GridCraze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는 풀이 과정을 알고리즘 탐색 문제로 바꾸기 용이한 퍼즐 문제이다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A01E28-7FB2-4F45-2E35-1634F946F44C}"/>
              </a:ext>
            </a:extLst>
          </p:cNvPr>
          <p:cNvSpPr txBox="1"/>
          <p:nvPr/>
        </p:nvSpPr>
        <p:spPr>
          <a:xfrm>
            <a:off x="445062" y="1268200"/>
            <a:ext cx="11417862" cy="485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논리적 계획이 필요한 게임이다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플레이어는 현재 보드 상태를 보고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방향으로 움직였을 때 블록이 어디에서 멈출지 예측해야 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 한 번의 움직임이 다음 움직임의 출발점을 결정하므로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여러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앞서 생각하는 계획 능력이 필요하다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이러한 특성은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알고리즘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탐색 문제와 잘 맞는다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해결하기 위해서는 다음과 같은 과정이 필요하다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현재 보드 상태를 표현한다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각 방향으로 이동했을 때의 다음 상태를 계산한다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가능한 상태들을 체계적으로 탐색한다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 지점에 도달하는 경로 중 가장 짧은 경로를 선택한다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이는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state, action, transition function, goal test, path cost, graph search, optimality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등의 개념과 직접적으로 연결된다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 </a:t>
            </a:r>
            <a:r>
              <a:rPr lang="en-US" altLang="ko-KR" sz="16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ko-KR" altLang="en-US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</a:t>
            </a:r>
            <a:r>
              <a:rPr lang="en-US" altLang="ko-KR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비용이 동일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하다는 중요한 특징을 가진다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좌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 중 어떤 방향으로 움직이더라도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수는 정확히 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증가한다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이 문제는 복잡한 비용 계산 없이도 </a:t>
            </a:r>
            <a:r>
              <a:rPr lang="ko-KR" altLang="en-US" sz="16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최단 경로 탐색 알고리즘</a:t>
            </a:r>
            <a:r>
              <a:rPr lang="ko-KR" altLang="en-US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적용하기에 적합하다</a:t>
            </a:r>
            <a:r>
              <a:rPr lang="en-US" altLang="ko-KR" sz="16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150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15D4-FEDD-59F8-B857-AAAFDAD2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D4B4153-41A5-46B8-A03E-AA2F09D58555}"/>
              </a:ext>
            </a:extLst>
          </p:cNvPr>
          <p:cNvSpPr txBox="1">
            <a:spLocks/>
          </p:cNvSpPr>
          <p:nvPr/>
        </p:nvSpPr>
        <p:spPr>
          <a:xfrm>
            <a:off x="838200" y="276927"/>
            <a:ext cx="10515600" cy="613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GridCraze</a:t>
            </a:r>
            <a:r>
              <a:rPr lang="en-US" altLang="ko-KR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게임 규칙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1512B7D1-35A5-E0D9-B1CD-E2FA0B7AC260}"/>
              </a:ext>
            </a:extLst>
          </p:cNvPr>
          <p:cNvSpPr txBox="1">
            <a:spLocks/>
          </p:cNvSpPr>
          <p:nvPr/>
        </p:nvSpPr>
        <p:spPr>
          <a:xfrm>
            <a:off x="838200" y="775078"/>
            <a:ext cx="10515600" cy="694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격자 내에서 진행되며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플레이어 블록만이 이동 가능한 블록이다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 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좌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우 모든 방향으로의 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비용이 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 동일하며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move 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시 해당 방향으로 계속 직선 이동하다가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특정 요소를 만나면 정지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혹은 상호작용을 진행한다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15CB59-ED74-70D9-4F8D-EFB0084A8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5" t="37312" r="50044" b="57920"/>
          <a:stretch>
            <a:fillRect/>
          </a:stretch>
        </p:blipFill>
        <p:spPr>
          <a:xfrm>
            <a:off x="366366" y="1631030"/>
            <a:ext cx="642344" cy="6682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0707FC-1624-CA9B-40F4-EA8F6567A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05" t="27521" r="46661" b="67433"/>
          <a:stretch>
            <a:fillRect/>
          </a:stretch>
        </p:blipFill>
        <p:spPr>
          <a:xfrm>
            <a:off x="353160" y="3363487"/>
            <a:ext cx="648832" cy="7072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FD1F3A1-0576-075E-2B22-AD7A9C340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79" t="27596" r="56667" b="67714"/>
          <a:stretch>
            <a:fillRect/>
          </a:stretch>
        </p:blipFill>
        <p:spPr>
          <a:xfrm>
            <a:off x="6371048" y="1642101"/>
            <a:ext cx="673101" cy="6572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C20D436-5DCF-3122-4229-E1206839F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46" t="37316" r="56636" b="58112"/>
          <a:stretch>
            <a:fillRect/>
          </a:stretch>
        </p:blipFill>
        <p:spPr>
          <a:xfrm>
            <a:off x="6386190" y="3396685"/>
            <a:ext cx="666132" cy="64083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782ACAE-7A23-2DB3-2778-23D72E7CC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76" t="13168" r="36545" b="81878"/>
          <a:stretch>
            <a:fillRect/>
          </a:stretch>
        </p:blipFill>
        <p:spPr>
          <a:xfrm>
            <a:off x="338560" y="5134874"/>
            <a:ext cx="678031" cy="6942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5DFE87-EA83-B767-E34D-4878A2E43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8" t="8447" r="59851" b="86599"/>
          <a:stretch>
            <a:fillRect/>
          </a:stretch>
        </p:blipFill>
        <p:spPr>
          <a:xfrm rot="5400000">
            <a:off x="6052041" y="5455569"/>
            <a:ext cx="1362548" cy="6942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977153-B83F-91C2-4A02-6B13619DD851}"/>
              </a:ext>
            </a:extLst>
          </p:cNvPr>
          <p:cNvSpPr txBox="1"/>
          <p:nvPr/>
        </p:nvSpPr>
        <p:spPr>
          <a:xfrm>
            <a:off x="1123373" y="1642101"/>
            <a:ext cx="4818961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블록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(P)</a:t>
            </a:r>
            <a:endParaRPr lang="en-US" altLang="ko-KR" sz="1400" b="1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4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블록은 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`P`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표현한다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오직 플레이어  블록만이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가능하며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사용자의 입력에 따라 상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좌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 직선으로 움직인다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14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한 번의 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slide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의미하며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실제로 몇 칸을 </a:t>
            </a:r>
            <a:r>
              <a:rPr lang="ko-KR" altLang="en-US" sz="1400" b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이동했는지와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상관없이 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수는 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증가한다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670F7-543D-B961-0C6F-3E3E39FD47B8}"/>
              </a:ext>
            </a:extLst>
          </p:cNvPr>
          <p:cNvSpPr txBox="1"/>
          <p:nvPr/>
        </p:nvSpPr>
        <p:spPr>
          <a:xfrm>
            <a:off x="1123373" y="3363487"/>
            <a:ext cx="4818961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 지점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(G)</a:t>
            </a:r>
            <a:endParaRPr lang="en-US" altLang="ko-KR" sz="1400" b="1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4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 지점은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`G`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표현한다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블록이 목표 지점에 도달하면 해당 스테이지는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클리어된다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 test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다음과 같이 정의할 수 있다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위치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== G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위치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776C8E-702F-BFC0-88F6-D421453B51EB}"/>
              </a:ext>
            </a:extLst>
          </p:cNvPr>
          <p:cNvSpPr txBox="1"/>
          <p:nvPr/>
        </p:nvSpPr>
        <p:spPr>
          <a:xfrm>
            <a:off x="7160031" y="1664843"/>
            <a:ext cx="4818961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14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벽 블록 </a:t>
            </a:r>
            <a:r>
              <a:rPr lang="en-US" altLang="ko-KR" sz="1400" b="1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(#)</a:t>
            </a: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벽은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`#`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표현한다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블록은 벽을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지나 이동할 수 없다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벽을 향해 이동하면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벽 바로 직전 칸에서 멈춘다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보드의 바깥 경계도 동일하게 처리한다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별도의 외곽 벽을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encoding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추가하지 않고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좌표가 보드 범위를 벗어나면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wall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같은 값으로 해석한다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C0785-E1B1-4FE3-BF04-C035D4FE6B0B}"/>
              </a:ext>
            </a:extLst>
          </p:cNvPr>
          <p:cNvSpPr txBox="1"/>
          <p:nvPr/>
        </p:nvSpPr>
        <p:spPr>
          <a:xfrm>
            <a:off x="1123373" y="5134874"/>
            <a:ext cx="481896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정지 칸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(S)</a:t>
            </a:r>
          </a:p>
          <a:p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정지 칸은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`S`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표현한다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정지 칸은 회색 테두리로 표시되며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블록이 이 칸에 도달하면 해당 칸의 위치에 즉시 정지한다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벽과 달리 정지 칸은 직접 해당 위치로  들어갈 수 있는 칸이다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정지 칸은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중요한 중간 정지 지점으로 작동한다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6173A-C4DE-319B-24A5-96F91E7FE924}"/>
              </a:ext>
            </a:extLst>
          </p:cNvPr>
          <p:cNvSpPr txBox="1"/>
          <p:nvPr/>
        </p:nvSpPr>
        <p:spPr>
          <a:xfrm>
            <a:off x="7160030" y="3331895"/>
            <a:ext cx="4818961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반사 블록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(Rn)</a:t>
            </a:r>
          </a:p>
          <a:p>
            <a:pPr>
              <a:lnSpc>
                <a:spcPts val="1425"/>
              </a:lnSpc>
              <a:buNone/>
            </a:pPr>
            <a:endParaRPr lang="en-US" altLang="ko-KR" sz="14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반사 블록은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`Rn`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표현한다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여기서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`n`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반사 거리를 의미한다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예를 들어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`R2`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충돌한 플레이어 블록을 블록이 온 방향으로 다시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칸 튕겨내는 블록이다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반사 블록은 고정 장애물이다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블록은 반사 블록 위로 올라갈 수 없고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반사 블록을 밀거나 통과할 수 없다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5FCBA5-AE00-44F0-98CE-55A25D9ABE17}"/>
              </a:ext>
            </a:extLst>
          </p:cNvPr>
          <p:cNvSpPr txBox="1"/>
          <p:nvPr/>
        </p:nvSpPr>
        <p:spPr>
          <a:xfrm>
            <a:off x="7160032" y="5334118"/>
            <a:ext cx="4818961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 공간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(.)</a:t>
            </a:r>
            <a:endParaRPr lang="en-US" altLang="ko-KR" sz="1400" b="1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4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 공간은 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‘.’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표현한다</a:t>
            </a:r>
            <a: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일반적으로 이동이 가능한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Stage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배경이 되는 블록이며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두 가지 색상의 블록으로 표현된다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4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1400" b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726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4658-D504-B077-1AA4-0B0E37B2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40480ED-8D46-C258-51FE-FC8FB0729EBC}"/>
              </a:ext>
            </a:extLst>
          </p:cNvPr>
          <p:cNvSpPr txBox="1">
            <a:spLocks/>
          </p:cNvSpPr>
          <p:nvPr/>
        </p:nvSpPr>
        <p:spPr>
          <a:xfrm>
            <a:off x="838200" y="276927"/>
            <a:ext cx="10515600" cy="613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Stage </a:t>
            </a:r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표현 방식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3A913FB-7015-2959-CDD4-1EEA8386DEE8}"/>
              </a:ext>
            </a:extLst>
          </p:cNvPr>
          <p:cNvSpPr txBox="1">
            <a:spLocks/>
          </p:cNvSpPr>
          <p:nvPr/>
        </p:nvSpPr>
        <p:spPr>
          <a:xfrm>
            <a:off x="838200" y="775078"/>
            <a:ext cx="10515600" cy="38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Stage</a:t>
            </a:r>
            <a:r>
              <a:rPr lang="ko-KR" altLang="en-US" sz="18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 </a:t>
            </a:r>
            <a:r>
              <a:rPr lang="en-US" altLang="ko-KR" sz="18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symbolic board</a:t>
            </a:r>
            <a:r>
              <a:rPr lang="ko-KR" altLang="en-US" sz="18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 변환하여 </a:t>
            </a:r>
            <a:r>
              <a:rPr lang="en-US" altLang="ko-KR" sz="18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solver</a:t>
            </a:r>
            <a:r>
              <a:rPr lang="ko-KR" altLang="en-US" sz="18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 처리할 수 있는 입력으로 만든다</a:t>
            </a:r>
          </a:p>
        </p:txBody>
      </p:sp>
      <p:pic>
        <p:nvPicPr>
          <p:cNvPr id="4" name="그림 3" descr="이미지 미리 보기">
            <a:extLst>
              <a:ext uri="{FF2B5EF4-FFF2-40B4-BE49-F238E27FC236}">
                <a16:creationId xmlns:a16="http://schemas.microsoft.com/office/drawing/2014/main" id="{DA85680A-346F-42AB-2467-592233158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55"/>
          <a:stretch>
            <a:fillRect/>
          </a:stretch>
        </p:blipFill>
        <p:spPr>
          <a:xfrm>
            <a:off x="362550" y="1388275"/>
            <a:ext cx="2717533" cy="1807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03D00-5502-206B-2A18-95C7246B9BF2}"/>
              </a:ext>
            </a:extLst>
          </p:cNvPr>
          <p:cNvSpPr txBox="1"/>
          <p:nvPr/>
        </p:nvSpPr>
        <p:spPr>
          <a:xfrm>
            <a:off x="274838" y="3662106"/>
            <a:ext cx="29766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{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id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easy_example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rows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8,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cols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6,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optimal_moves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6,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[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[".", ".", ".", ".", ".", "#"],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[".", ".", "#", ".", ".", "."],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[".", ".",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 ".", "#", "."],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["#", "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 ".", ".", ".", "."]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]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44AE22-0E9E-6BE2-33C9-151F6809F2A8}"/>
              </a:ext>
            </a:extLst>
          </p:cNvPr>
          <p:cNvSpPr txBox="1"/>
          <p:nvPr/>
        </p:nvSpPr>
        <p:spPr>
          <a:xfrm>
            <a:off x="3251450" y="1388275"/>
            <a:ext cx="8462496" cy="485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이미지 자체를 직접 탐색하지 않는다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이미지에는 픽셀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색상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UI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요소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해상도 차이 등이 포함되어 있어 바로 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입력으로 사용하기 어렵다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본 프로젝트에서는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사람이 확인한 뒤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solver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읽을 수 있는 </a:t>
            </a:r>
            <a:r>
              <a:rPr lang="en-US" altLang="ko-KR" sz="16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symbolic board</a:t>
            </a:r>
            <a:r>
              <a:rPr lang="ko-KR" altLang="en-US" sz="16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변환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한다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Symbolic board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에서는 각 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block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앞선 페이지에서 언급한 기호로 변환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한다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통해 스테이지를 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차원 배열 또는 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형태로 저장할 수 있다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좌표계는 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(row, col)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 형식을 사용한다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왼쪽 위 칸을 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(0, 0)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두고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아래쪽으로 갈수록 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row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증가하며 오른쪽으로 갈수록 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col</a:t>
            </a:r>
            <a:r>
              <a:rPr lang="ko-KR" altLang="en-US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증가한다</a:t>
            </a:r>
            <a:r>
              <a:rPr lang="en-US" altLang="ko-KR" sz="16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이때 </a:t>
            </a:r>
            <a:r>
              <a:rPr lang="en-US" altLang="ko-KR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optimal_moves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게임 화면에 표시되는 해당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최적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수이다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예를 들어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easy example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move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수는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이고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6/1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경우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move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이며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진행한 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회라는 의미이다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1600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AD2844C0-C5E7-69BD-9684-D73C2FAF9E2B}"/>
              </a:ext>
            </a:extLst>
          </p:cNvPr>
          <p:cNvSpPr/>
          <p:nvPr/>
        </p:nvSpPr>
        <p:spPr>
          <a:xfrm>
            <a:off x="1509560" y="3320716"/>
            <a:ext cx="423512" cy="259882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60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B0699-F207-7E5A-583E-999B2DC88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83BAB-47FA-F406-3926-CEF07639821F}"/>
              </a:ext>
            </a:extLst>
          </p:cNvPr>
          <p:cNvSpPr txBox="1">
            <a:spLocks/>
          </p:cNvSpPr>
          <p:nvPr/>
        </p:nvSpPr>
        <p:spPr>
          <a:xfrm>
            <a:off x="838200" y="276927"/>
            <a:ext cx="10515600" cy="613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탐색 문제로의 정의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F58D3FB-5420-FF17-0205-BAB3EF759590}"/>
              </a:ext>
            </a:extLst>
          </p:cNvPr>
          <p:cNvSpPr txBox="1">
            <a:spLocks/>
          </p:cNvSpPr>
          <p:nvPr/>
        </p:nvSpPr>
        <p:spPr>
          <a:xfrm>
            <a:off x="838200" y="775078"/>
            <a:ext cx="10515600" cy="694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GridCraze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는 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state, action, transition, goal. Cost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 명확하게 정의 가능하며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transition function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을 통해 각 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action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마다의 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state</a:t>
            </a:r>
            <a:r>
              <a:rPr lang="ko-KR" altLang="en-US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 계산한다</a:t>
            </a:r>
            <a:r>
              <a:rPr lang="en-US" altLang="ko-KR" sz="1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474317-84B7-BA4D-0A1B-A12CAA57F3AC}"/>
              </a:ext>
            </a:extLst>
          </p:cNvPr>
          <p:cNvSpPr txBox="1"/>
          <p:nvPr/>
        </p:nvSpPr>
        <p:spPr>
          <a:xfrm>
            <a:off x="6063093" y="1388275"/>
            <a:ext cx="567850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Transition function</a:t>
            </a:r>
            <a:r>
              <a:rPr lang="ko-KR" altLang="en-US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현재 </a:t>
            </a:r>
            <a:r>
              <a:rPr lang="en-US" altLang="ko-KR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r>
              <a:rPr lang="ko-KR" altLang="en-US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</a:t>
            </a:r>
            <a:r>
              <a:rPr lang="ko-KR" altLang="en-US" sz="1400" b="1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입력받아</a:t>
            </a:r>
            <a:r>
              <a:rPr lang="ko-KR" altLang="en-US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다음 </a:t>
            </a:r>
            <a:r>
              <a:rPr lang="en-US" altLang="ko-KR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반환하는 함수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Transition function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먼저 현재 위치에서 시작하여 선택한 방향으로 한 칸씩 이동을 시도한다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칸이 빈 칸이면 계속 이동한다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칸이 벽이거나 보드 밖이면 현재 위치에서 멈춘다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칸이 목표 지점이면 목표 지점으로 이동하고 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clear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칸이 정지 칸이면 그 칸으로 이동한 뒤 즉시 멈춘다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40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반사 블록을 만나는 경우에는 별도 처리가 필요하다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블록은 반사 블록 위로 올라가지 못한다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대신 반사 블록 바로 직전의 인접 칸에서 충돌한 것으로 처리하고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반대 방향으로 블록에 적힌 숫자만큼 튕겨 나간다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rebound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과정도 중간에 목표나 정지 칸을 만날 수 있으므로 한 칸씩 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해야 한다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40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Transtion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흐름은 다음과 같이 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요약이 </a:t>
            </a:r>
            <a:r>
              <a:rPr lang="ko-KR" altLang="en-US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가능하다</a:t>
            </a:r>
            <a:r>
              <a:rPr lang="en-US" altLang="ko-KR" sz="140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1EA57-1CBE-55E1-8B90-E3683CDB281F}"/>
              </a:ext>
            </a:extLst>
          </p:cNvPr>
          <p:cNvSpPr txBox="1"/>
          <p:nvPr/>
        </p:nvSpPr>
        <p:spPr>
          <a:xfrm>
            <a:off x="9262979" y="4577871"/>
            <a:ext cx="24279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위치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방향 선택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한 칸씩 직선 이동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처음 만나는 이벤트 처리</a:t>
            </a: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다음 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반환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7171A-C067-CC4F-BD66-A597FBE957EA}"/>
              </a:ext>
            </a:extLst>
          </p:cNvPr>
          <p:cNvSpPr txBox="1"/>
          <p:nvPr/>
        </p:nvSpPr>
        <p:spPr>
          <a:xfrm>
            <a:off x="210933" y="1469328"/>
            <a:ext cx="55835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400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탐색 문제로 만들기 위해서는 게임 </a:t>
            </a:r>
            <a:r>
              <a:rPr lang="ko-KR" altLang="en-US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요소를 </a:t>
            </a:r>
            <a:r>
              <a:rPr lang="en-US" altLang="ko-KR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search problem</a:t>
            </a:r>
            <a:r>
              <a:rPr lang="ko-KR" altLang="en-US" sz="1400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구성요소로 대응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시켜야 한다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대응 관계가 명확해야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DFS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같은 탐색 알고리즘을 적용할 수 있다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400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en-US" altLang="ko-KR" sz="1400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플레이어 블록의 현재 위치이다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스테이지의 벽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정지 칸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반사 블록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 지점은 고정되어 있으므로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마다 전체 보드를 새로 저장할 필요는 없다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모델에서는 움직이는 객체가 플레이어 블록 </a:t>
            </a:r>
            <a:r>
              <a:rPr lang="ko-KR" altLang="en-US" sz="1400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하나뿐이기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때문에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 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400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player_row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400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player_col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만으로 표현할 수 있다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400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상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좌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 중 하나의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slide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Transition function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해당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적용했을 때 플레이어 블록이 최종적으로 어느 위치에 도달하는지를 계산한다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Goal test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플레이어 블록의 위치가 목표 지점과 </a:t>
            </a:r>
            <a:r>
              <a:rPr lang="ko-KR" altLang="en-US" sz="1400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같은지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확인하는 것이다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Path cost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지금까지 사용한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수이며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최적해는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까지 도달하는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sequence 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 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path cost</a:t>
            </a:r>
            <a:r>
              <a:rPr lang="ko-KR" altLang="en-US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가장 작은 해이다</a:t>
            </a:r>
            <a:r>
              <a:rPr lang="en-US" altLang="ko-KR" sz="14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D859EA3-C942-1296-7D83-86FEC4628819}"/>
              </a:ext>
            </a:extLst>
          </p:cNvPr>
          <p:cNvCxnSpPr>
            <a:cxnSpLocks/>
          </p:cNvCxnSpPr>
          <p:nvPr/>
        </p:nvCxnSpPr>
        <p:spPr>
          <a:xfrm flipV="1">
            <a:off x="5950480" y="1388275"/>
            <a:ext cx="0" cy="4436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60C418A-F773-2F77-1921-7818AA5F5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64239"/>
              </p:ext>
            </p:extLst>
          </p:nvPr>
        </p:nvGraphicFramePr>
        <p:xfrm>
          <a:off x="259888" y="4726362"/>
          <a:ext cx="2742813" cy="1016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986">
                  <a:extLst>
                    <a:ext uri="{9D8B030D-6E8A-4147-A177-3AD203B41FA5}">
                      <a16:colId xmlns:a16="http://schemas.microsoft.com/office/drawing/2014/main" val="3697248413"/>
                    </a:ext>
                  </a:extLst>
                </a:gridCol>
                <a:gridCol w="1820827">
                  <a:extLst>
                    <a:ext uri="{9D8B030D-6E8A-4147-A177-3AD203B41FA5}">
                      <a16:colId xmlns:a16="http://schemas.microsoft.com/office/drawing/2014/main" val="533556291"/>
                    </a:ext>
                  </a:extLst>
                </a:gridCol>
              </a:tblGrid>
              <a:tr h="284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State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플레이어 블록의 현재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72665"/>
                  </a:ext>
                </a:extLst>
              </a:tr>
              <a:tr h="284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Initial state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스테이지 시작 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71342"/>
                  </a:ext>
                </a:extLst>
              </a:tr>
              <a:tr h="158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Action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 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move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6385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CE67999-4585-801E-504C-33CD936FD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74406"/>
              </p:ext>
            </p:extLst>
          </p:nvPr>
        </p:nvGraphicFramePr>
        <p:xfrm>
          <a:off x="3082686" y="4726362"/>
          <a:ext cx="2742813" cy="102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986">
                  <a:extLst>
                    <a:ext uri="{9D8B030D-6E8A-4147-A177-3AD203B41FA5}">
                      <a16:colId xmlns:a16="http://schemas.microsoft.com/office/drawing/2014/main" val="3697248413"/>
                    </a:ext>
                  </a:extLst>
                </a:gridCol>
                <a:gridCol w="1820827">
                  <a:extLst>
                    <a:ext uri="{9D8B030D-6E8A-4147-A177-3AD203B41FA5}">
                      <a16:colId xmlns:a16="http://schemas.microsoft.com/office/drawing/2014/main" val="533556291"/>
                    </a:ext>
                  </a:extLst>
                </a:gridCol>
              </a:tblGrid>
              <a:tr h="284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Goal Test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플레이어 블록의 현재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72665"/>
                  </a:ext>
                </a:extLst>
              </a:tr>
              <a:tr h="2846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Path cost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스테이지 시작 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71342"/>
                  </a:ext>
                </a:extLst>
              </a:tr>
              <a:tr h="361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Optimal Solution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좌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 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move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63856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79C25B-9C05-9EC2-68A9-DAE678F6A877}"/>
              </a:ext>
            </a:extLst>
          </p:cNvPr>
          <p:cNvSpPr/>
          <p:nvPr/>
        </p:nvSpPr>
        <p:spPr>
          <a:xfrm>
            <a:off x="259887" y="5977467"/>
            <a:ext cx="11481709" cy="694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고정된 </a:t>
            </a:r>
            <a:r>
              <a:rPr lang="en-US" altLang="ko-KR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board</a:t>
            </a:r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에서는 플레이어 블록의 좌표만으로 </a:t>
            </a:r>
            <a:r>
              <a:rPr lang="en-US" altLang="ko-KR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표현할 수 있어</a:t>
            </a:r>
            <a:r>
              <a:rPr lang="en-US" altLang="ko-KR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6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간결한 </a:t>
            </a:r>
            <a:r>
              <a:rPr lang="en-US" altLang="ko-KR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state-space search problem</a:t>
            </a:r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된다</a:t>
            </a:r>
            <a:r>
              <a:rPr lang="en-US" altLang="ko-KR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6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7981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9B8F6-3672-9341-32A3-96D51E33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D8F8B5F-AB3F-181A-0C78-1C9AFCE2F81C}"/>
              </a:ext>
            </a:extLst>
          </p:cNvPr>
          <p:cNvSpPr txBox="1">
            <a:spLocks/>
          </p:cNvSpPr>
          <p:nvPr/>
        </p:nvSpPr>
        <p:spPr>
          <a:xfrm>
            <a:off x="838200" y="276927"/>
            <a:ext cx="10515600" cy="613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메인 알고리즘</a:t>
            </a:r>
            <a:r>
              <a:rPr lang="en-US" altLang="ko-KR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Breadth First Search (BFS)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44347B2-34B0-D54D-CD3A-A4012AF4F073}"/>
              </a:ext>
            </a:extLst>
          </p:cNvPr>
          <p:cNvSpPr txBox="1">
            <a:spLocks/>
          </p:cNvSpPr>
          <p:nvPr/>
        </p:nvSpPr>
        <p:spPr>
          <a:xfrm>
            <a:off x="838200" y="890124"/>
            <a:ext cx="10515600" cy="3848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최적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수를 보장하는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main solver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이다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b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 cost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 </a:t>
            </a:r>
            <a:r>
              <a:rPr lang="en-US" altLang="ko-KR" sz="1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에서는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처음 찾은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 path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곧 최소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solution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이다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A4127-DB84-5114-7248-197EA06DD5DB}"/>
              </a:ext>
            </a:extLst>
          </p:cNvPr>
          <p:cNvSpPr txBox="1"/>
          <p:nvPr/>
        </p:nvSpPr>
        <p:spPr>
          <a:xfrm>
            <a:off x="0" y="1503321"/>
            <a:ext cx="776026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메인 알고리즘으로 적절하다고 판단한 핵심 사유는 다음과 같다.                                           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모든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cost가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1이다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                                                     </a:t>
            </a: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GridCraze에서는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한 번의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slide가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항상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1회로 계산된다. 실제 이동 거리가 1칸이든 5칸이든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cost는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같다. 따라서 “최소 비용” 문제는 곧 “최소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depth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” 문제이고,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최소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depth의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해를 보장한다.                                                  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목표가 단순한 풀이가 아니라 최적 풀이이다.                                   </a:t>
            </a: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DFS나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단순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backtracking은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goal에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도달하는 경로를 찾을 수는 있지만, 처음 찾은 해가 최소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해라는 보장은 없다. 반면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수가 작은 경로부터 탐색하므로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처음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goal을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발견한 순간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그 경로가 바로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최적해이다.                                   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상태 공간이 명확하고 유한하다. 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모델에서는 움직이는 객체가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player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block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하나뿐이다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벽,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stop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cell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rebound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block은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고정되어 있으므로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player의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좌표 (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row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col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)만으로 표현할 수 있다.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board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크기가 유한하므로 가능한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수도 유한하고,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BFS로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전체 탐색이 가능하다.                                                                       </a:t>
            </a: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정리하면,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“동일 비용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action을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가진 유한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state-space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search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problem”이다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이런 조건에서 최소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solution을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보장하는 표준적인 알고리즘이므로, 본 프로젝트의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main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solver로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가장 적절하다.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07E76-3165-91D6-3CF9-BA0FA6D12D38}"/>
              </a:ext>
            </a:extLst>
          </p:cNvPr>
          <p:cNvSpPr txBox="1"/>
          <p:nvPr/>
        </p:nvSpPr>
        <p:spPr>
          <a:xfrm>
            <a:off x="7999278" y="1888176"/>
            <a:ext cx="4114499" cy="296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 Solver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기본 구조는 다음과 같다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start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position을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queue에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넣는다.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queue에서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현재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state와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path를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꺼낸다.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현재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state가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goal이면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path를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반환한다.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네 방향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slide를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적용하여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next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state를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만든다.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방문한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close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처리하여 재방문을 방지한다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방문하지 않은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next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state를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queue에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추가한다.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찾을 때까지 반복 진행한다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021C981-17AF-D76B-33F6-EA2CC2C76365}"/>
              </a:ext>
            </a:extLst>
          </p:cNvPr>
          <p:cNvCxnSpPr>
            <a:cxnSpLocks/>
          </p:cNvCxnSpPr>
          <p:nvPr/>
        </p:nvCxnSpPr>
        <p:spPr>
          <a:xfrm flipV="1">
            <a:off x="7871302" y="1503321"/>
            <a:ext cx="0" cy="5078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7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57D3-1AA0-7CE6-564F-BEEE6F91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8EC6B7B-D436-272F-AD91-0068D37F4297}"/>
              </a:ext>
            </a:extLst>
          </p:cNvPr>
          <p:cNvSpPr txBox="1">
            <a:spLocks/>
          </p:cNvSpPr>
          <p:nvPr/>
        </p:nvSpPr>
        <p:spPr>
          <a:xfrm>
            <a:off x="838200" y="276927"/>
            <a:ext cx="10515600" cy="613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비교 알고리즘과 구현 구조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807A471-D465-C7C6-6321-B8852ED9101F}"/>
              </a:ext>
            </a:extLst>
          </p:cNvPr>
          <p:cNvSpPr txBox="1">
            <a:spLocks/>
          </p:cNvSpPr>
          <p:nvPr/>
        </p:nvSpPr>
        <p:spPr>
          <a:xfrm>
            <a:off x="838200" y="890124"/>
            <a:ext cx="10515600" cy="3848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최적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수를 보장하는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main solver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이다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b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 cost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 </a:t>
            </a:r>
            <a:r>
              <a:rPr lang="en-US" altLang="ko-KR" sz="1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에서는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처음 찾은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goal path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곧 최소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solution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이다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E250D-12BD-20CC-8DC0-1C58AB2967F1}"/>
              </a:ext>
            </a:extLst>
          </p:cNvPr>
          <p:cNvSpPr txBox="1"/>
          <p:nvPr/>
        </p:nvSpPr>
        <p:spPr>
          <a:xfrm>
            <a:off x="6343744" y="1625709"/>
            <a:ext cx="5723466" cy="480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기반의 구현을 진행하며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다음과 같은 </a:t>
            </a:r>
            <a:r>
              <a:rPr lang="ko-KR" altLang="en-US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네가지의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구성 요소들의 구현을 통해 프로젝트를 진행한다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 Encoder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스크린샷 또는 관찰한 스테이지를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symbolic grid JSON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변환한다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endParaRPr lang="en-US" altLang="ko-KR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Rule Engine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wall, boundary, stop cell, goal, rebound block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규칙을 구현한다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endParaRPr lang="en-US" altLang="ko-KR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Search Solver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BFS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최적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sequence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찾고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IDS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비교 실험을 수행한다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endParaRPr lang="en-US" altLang="ko-KR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Evaluator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solver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결과와 게임의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move count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비교한다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E2494-5B0B-394C-F8BA-3A1B46E94A43}"/>
              </a:ext>
            </a:extLst>
          </p:cNvPr>
          <p:cNvSpPr txBox="1"/>
          <p:nvPr/>
        </p:nvSpPr>
        <p:spPr>
          <a:xfrm>
            <a:off x="196694" y="1625709"/>
            <a:ext cx="5791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Iterative Deepening Search, IDS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main solver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아니라 비교 알고리즘으로 사용한다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IDS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깊이 제한 탐색을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depth 0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부터 시작해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1, 2, 3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처럼 하나씩 늘려 반복하는 방식이다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에서는 모든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slide action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cost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이므로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depth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곧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수이고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IDS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 처음 발견한 해를 최소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해로 볼 수 있다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다만 같은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여러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depth limit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반복 탐색할 수 있으므로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runtime, expanded states, memory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 특성을 비교하는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baseline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사용한다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B3AD4E8-71B3-95A9-7F46-EE50023DB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266188"/>
              </p:ext>
            </p:extLst>
          </p:nvPr>
        </p:nvGraphicFramePr>
        <p:xfrm>
          <a:off x="196694" y="4765030"/>
          <a:ext cx="572346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158604926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769065620"/>
                    </a:ext>
                  </a:extLst>
                </a:gridCol>
                <a:gridCol w="2091267">
                  <a:extLst>
                    <a:ext uri="{9D8B030D-6E8A-4147-A177-3AD203B41FA5}">
                      <a16:colId xmlns:a16="http://schemas.microsoft.com/office/drawing/2014/main" val="2648671394"/>
                    </a:ext>
                  </a:extLst>
                </a:gridCol>
                <a:gridCol w="1041401">
                  <a:extLst>
                    <a:ext uri="{9D8B030D-6E8A-4147-A177-3AD203B41FA5}">
                      <a16:colId xmlns:a16="http://schemas.microsoft.com/office/drawing/2014/main" val="3149218572"/>
                    </a:ext>
                  </a:extLst>
                </a:gridCol>
              </a:tblGrid>
              <a:tr h="334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알고리즘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한계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110466"/>
                  </a:ext>
                </a:extLst>
              </a:tr>
              <a:tr h="5247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BFS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최소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move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State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 많아지면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memory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Main solver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767893"/>
                  </a:ext>
                </a:extLst>
              </a:tr>
              <a:tr h="5247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IDS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최소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depth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 확인 가능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memory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사용량 적음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같은 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state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를 여러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depth limit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에서 반복 탐색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Comparison Baseline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659880"/>
                  </a:ext>
                </a:extLst>
              </a:tr>
            </a:tbl>
          </a:graphicData>
        </a:graphic>
      </p:graphicFrame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9C67335-D092-3D08-22C9-5616CF0EDD31}"/>
              </a:ext>
            </a:extLst>
          </p:cNvPr>
          <p:cNvCxnSpPr>
            <a:cxnSpLocks/>
          </p:cNvCxnSpPr>
          <p:nvPr/>
        </p:nvCxnSpPr>
        <p:spPr>
          <a:xfrm flipV="1">
            <a:off x="6084543" y="1424077"/>
            <a:ext cx="0" cy="5078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978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F064-7FF8-B249-FE0B-8DE5C225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81CDB2A-7A0E-B4AE-8A5D-7D266D219F0E}"/>
              </a:ext>
            </a:extLst>
          </p:cNvPr>
          <p:cNvSpPr txBox="1">
            <a:spLocks/>
          </p:cNvSpPr>
          <p:nvPr/>
        </p:nvSpPr>
        <p:spPr>
          <a:xfrm>
            <a:off x="838200" y="276927"/>
            <a:ext cx="10515600" cy="613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평가 계획 및 향후 진행 로드맵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A93FCC4-49FD-865B-55F8-A0090B3A8E7C}"/>
              </a:ext>
            </a:extLst>
          </p:cNvPr>
          <p:cNvSpPr txBox="1">
            <a:spLocks/>
          </p:cNvSpPr>
          <p:nvPr/>
        </p:nvSpPr>
        <p:spPr>
          <a:xfrm>
            <a:off x="838200" y="890124"/>
            <a:ext cx="10515600" cy="3848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성능은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move 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일치 여부와 탐색 효율로 평가한다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 BFS 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수가 게임의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move count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일치하면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모델링과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타당성을 확인할 수 있다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528475-BF79-52C1-773D-1030A77C0C18}"/>
              </a:ext>
            </a:extLst>
          </p:cNvPr>
          <p:cNvSpPr txBox="1"/>
          <p:nvPr/>
        </p:nvSpPr>
        <p:spPr>
          <a:xfrm>
            <a:off x="6790267" y="2026811"/>
            <a:ext cx="5037667" cy="341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향후 진행은 다음 순서로 이루어진다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블록 종류와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encoding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규칙 확정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easy, normal stage JSON encoding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slide transition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rebound rule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 solver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DFS comparison solver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move count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결과 비교</a:t>
            </a:r>
            <a:endParaRPr lang="en-US" altLang="ko-KR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생성 및 입력 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Solver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비교</a:t>
            </a:r>
            <a:endParaRPr lang="ko-KR" altLang="en-US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DEC12-5477-996A-855A-15E2C873B220}"/>
              </a:ext>
            </a:extLst>
          </p:cNvPr>
          <p:cNvSpPr txBox="1"/>
          <p:nvPr/>
        </p:nvSpPr>
        <p:spPr>
          <a:xfrm>
            <a:off x="253999" y="1435588"/>
            <a:ext cx="584200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가장 중요한 평가 기준은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계산한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수가 게임에서 제공하는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move count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ko-KR" altLang="en-US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일치하는지이다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en-US" altLang="ko-KR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GridCraze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화면에는 각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최적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수가 표시되므로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solver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검증에 사용할 수 있다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>
              <a:buNone/>
            </a:pPr>
            <a:endParaRPr lang="en-US" altLang="ko-KR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지표는 다음과 같다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 Game optimal moves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게임 화면에 표시되는 최적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수이고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 Solver moves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BFS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계산한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solution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move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수이다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 </a:t>
            </a:r>
          </a:p>
          <a:p>
            <a:pPr algn="l">
              <a:buNone/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buNone/>
            </a:pP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Match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두 값이 일치하는지 여부를 나타낸다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expanded states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runtime</a:t>
            </a:r>
            <a:r>
              <a:rPr lang="ko-KR" altLang="en-US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측정하여 탐색 효율도 비교한다</a:t>
            </a:r>
            <a:r>
              <a:rPr lang="en-US" altLang="ko-KR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C0D613-09C7-D00B-8061-98E310D78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760795"/>
              </p:ext>
            </p:extLst>
          </p:nvPr>
        </p:nvGraphicFramePr>
        <p:xfrm>
          <a:off x="309032" y="5128907"/>
          <a:ext cx="5731934" cy="1584960"/>
        </p:xfrm>
        <a:graphic>
          <a:graphicData uri="http://schemas.openxmlformats.org/drawingml/2006/table">
            <a:tbl>
              <a:tblPr/>
              <a:tblGrid>
                <a:gridCol w="2199085">
                  <a:extLst>
                    <a:ext uri="{9D8B030D-6E8A-4147-A177-3AD203B41FA5}">
                      <a16:colId xmlns:a16="http://schemas.microsoft.com/office/drawing/2014/main" val="20635300"/>
                    </a:ext>
                  </a:extLst>
                </a:gridCol>
                <a:gridCol w="3532849">
                  <a:extLst>
                    <a:ext uri="{9D8B030D-6E8A-4147-A177-3AD203B41FA5}">
                      <a16:colId xmlns:a16="http://schemas.microsoft.com/office/drawing/2014/main" val="2404827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 b="1">
                          <a:solidFill>
                            <a:sysClr val="windowText" lastClr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평가 항목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의미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9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Game optimal moves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게임 화면에 표시되는 최적 </a:t>
                      </a:r>
                      <a:r>
                        <a:rPr lang="en-US" altLang="ko-KR" sz="14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move </a:t>
                      </a:r>
                      <a:r>
                        <a:rPr lang="ko-KR" altLang="en-US" sz="14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71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Solver moves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BFS</a:t>
                      </a:r>
                      <a:r>
                        <a:rPr lang="ko-KR" alt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 계산한 </a:t>
                      </a:r>
                      <a:r>
                        <a:rPr lang="en-US" altLang="ko-KR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move </a:t>
                      </a:r>
                      <a:r>
                        <a:rPr lang="ko-KR" alt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493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Match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두 값이 일치하는지 여부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340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Expanded states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탐색한 </a:t>
                      </a:r>
                      <a:r>
                        <a:rPr 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state </a:t>
                      </a:r>
                      <a:r>
                        <a:rPr lang="ko-KR" alt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506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Solution path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4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반환된 방향 </a:t>
                      </a:r>
                      <a:r>
                        <a:rPr lang="en-US" sz="1400" dirty="0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sequence</a:t>
                      </a:r>
                    </a:p>
                  </a:txBody>
                  <a:tcPr marL="25400" marR="25400" marT="25400" marB="25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447154"/>
                  </a:ext>
                </a:extLst>
              </a:tr>
            </a:tbl>
          </a:graphicData>
        </a:graphic>
      </p:graphicFrame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D584C25-A92E-CE86-0C53-1E92E5481724}"/>
              </a:ext>
            </a:extLst>
          </p:cNvPr>
          <p:cNvCxnSpPr>
            <a:cxnSpLocks/>
          </p:cNvCxnSpPr>
          <p:nvPr/>
        </p:nvCxnSpPr>
        <p:spPr>
          <a:xfrm flipV="1">
            <a:off x="6384333" y="1524686"/>
            <a:ext cx="0" cy="5078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22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2202</Words>
  <Application>Microsoft Office PowerPoint</Application>
  <PresentationFormat>와이드스크린</PresentationFormat>
  <Paragraphs>203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맑은 고딕</vt:lpstr>
      <vt:lpstr>Pretendard ExtraBold</vt:lpstr>
      <vt:lpstr>Pretendard</vt:lpstr>
      <vt:lpstr>Office 테마</vt:lpstr>
      <vt:lpstr>Idea Report </vt:lpstr>
      <vt:lpstr>목차</vt:lpstr>
      <vt:lpstr>프로젝트 개요: GridCraze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동락 최</dc:creator>
  <cp:lastModifiedBy>동락 최</cp:lastModifiedBy>
  <cp:revision>36</cp:revision>
  <dcterms:created xsi:type="dcterms:W3CDTF">2026-05-24T10:42:29Z</dcterms:created>
  <dcterms:modified xsi:type="dcterms:W3CDTF">2026-05-25T05:29:06Z</dcterms:modified>
</cp:coreProperties>
</file>